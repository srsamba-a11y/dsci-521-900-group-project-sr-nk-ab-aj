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9" r:id="rId5"/>
  </p:sldMasterIdLst>
  <p:notesMasterIdLst>
    <p:notesMasterId r:id="rId17"/>
  </p:notesMasterIdLst>
  <p:handoutMasterIdLst>
    <p:handoutMasterId r:id="rId18"/>
  </p:handoutMasterIdLst>
  <p:sldIdLst>
    <p:sldId id="258" r:id="rId6"/>
    <p:sldId id="256" r:id="rId7"/>
    <p:sldId id="266" r:id="rId8"/>
    <p:sldId id="265" r:id="rId9"/>
    <p:sldId id="260" r:id="rId10"/>
    <p:sldId id="259" r:id="rId11"/>
    <p:sldId id="261" r:id="rId12"/>
    <p:sldId id="262" r:id="rId13"/>
    <p:sldId id="263" r:id="rId14"/>
    <p:sldId id="26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F4C"/>
    <a:srgbClr val="FFFFFF"/>
    <a:srgbClr val="6B98CF"/>
    <a:srgbClr val="3F79BF"/>
    <a:srgbClr val="22549E"/>
    <a:srgbClr val="12488A"/>
    <a:srgbClr val="0A317A"/>
    <a:srgbClr val="BFBFBF"/>
    <a:srgbClr val="A7C2E3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/>
  </p:normalViewPr>
  <p:slideViewPr>
    <p:cSldViewPr>
      <p:cViewPr varScale="1">
        <p:scale>
          <a:sx n="73" d="100"/>
          <a:sy n="73" d="100"/>
        </p:scale>
        <p:origin x="1037" y="28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9D9F89-6C18-4BDB-A551-4F70B6F383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89244-4FC3-4784-BEAD-5864CC41F0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01931-4ABA-4E3D-BBEC-E5EBEB01A96A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0F207-DB35-40E9-948C-361EDFE7C1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B1A0A-C7C3-44BC-BAA2-1A0CAADBD8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EB395-6065-4B41-A877-649BB18418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542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2C9E7-200F-452C-857E-F8B7901E52A8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87FF5-0BDB-4DCA-A36D-2E57606E0F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954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2FA51-D451-4116-A149-179CCA390F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9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 hidden="1">
            <a:extLst>
              <a:ext uri="{FF2B5EF4-FFF2-40B4-BE49-F238E27FC236}">
                <a16:creationId xmlns:a16="http://schemas.microsoft.com/office/drawing/2014/main" id="{70FA3AC5-D8AD-A649-B1D4-D9270736AEED}"/>
              </a:ext>
            </a:extLst>
          </p:cNvPr>
          <p:cNvSpPr/>
          <p:nvPr userDrawn="1"/>
        </p:nvSpPr>
        <p:spPr>
          <a:xfrm flipH="1">
            <a:off x="0" y="228600"/>
            <a:ext cx="12191999" cy="762000"/>
          </a:xfrm>
          <a:prstGeom prst="rect">
            <a:avLst/>
          </a:prstGeom>
          <a:gradFill flip="none" rotWithShape="1">
            <a:gsLst>
              <a:gs pos="62000">
                <a:schemeClr val="tx2"/>
              </a:gs>
              <a:gs pos="1000">
                <a:schemeClr val="tx2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7529419A-F901-A541-BB43-0C9B7A36DB34}"/>
              </a:ext>
            </a:extLst>
          </p:cNvPr>
          <p:cNvSpPr/>
          <p:nvPr/>
        </p:nvSpPr>
        <p:spPr>
          <a:xfrm>
            <a:off x="508001" y="1596275"/>
            <a:ext cx="11205635" cy="2235200"/>
          </a:xfrm>
          <a:prstGeom prst="roundRect">
            <a:avLst>
              <a:gd name="adj" fmla="val 5046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02" name="Content Placeholder 198">
            <a:extLst>
              <a:ext uri="{FF2B5EF4-FFF2-40B4-BE49-F238E27FC236}">
                <a16:creationId xmlns:a16="http://schemas.microsoft.com/office/drawing/2014/main" id="{7945B06B-CC5E-6545-B772-D0C06EA5DD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6" hasCustomPrompt="1"/>
          </p:nvPr>
        </p:nvSpPr>
        <p:spPr>
          <a:xfrm>
            <a:off x="3985620" y="543052"/>
            <a:ext cx="3768172" cy="308051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MVA DATA ANALYSIS FOCUS : 8 STATES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CC2AD-5B4C-719E-144F-A72CEED8F8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0" y="1949567"/>
            <a:ext cx="2552700" cy="1744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A74369-E9B0-7DE8-1B70-8618713360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00441" y="2458713"/>
            <a:ext cx="7668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Alaska, California, District of Columbia, Florida, Georgia, Rhode Island, Texas, Vermont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 hidden="1">
            <a:extLst>
              <a:ext uri="{FF2B5EF4-FFF2-40B4-BE49-F238E27FC236}">
                <a16:creationId xmlns:a16="http://schemas.microsoft.com/office/drawing/2014/main" id="{B4B586E7-3C5B-4A38-87F0-329B79C92B76}"/>
              </a:ext>
            </a:extLst>
          </p:cNvPr>
          <p:cNvSpPr>
            <a:spLocks/>
          </p:cNvSpPr>
          <p:nvPr>
            <p:ph type="body" sz="quarter" idx="10"/>
          </p:nvPr>
        </p:nvSpPr>
        <p:spPr>
          <a:xfrm>
            <a:off x="2895600" y="2667000"/>
            <a:ext cx="6400800" cy="152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894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7D446C9-8A5F-4E26-9379-018D2058B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73" y="264895"/>
            <a:ext cx="11171628" cy="679099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70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5E56-CBF9-CC6A-C82D-3C9969B6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0338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ABC8-91C3-E5BD-9B2E-67F7081F4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E7AF-A4B8-2554-6377-762163E34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3405D-B7F8-A64A-4AEB-9616987C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F6E35-6DB0-F3B2-5E0A-F006CEC8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70431-EAF8-5664-B503-C6E996CA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82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82D5-1ACB-8F86-27AF-803EF9EF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95D55-449B-7FEF-6518-F13C19E71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CCFE8-58CB-5429-17D8-2165B9D1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02131-9BD0-268F-E9F3-98F55AD8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23350-9E95-F069-5D3A-054E7723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F675-9A75-EE19-F47E-A88C3A08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FD248-8713-9041-0430-4E7CB99B0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49B0D-9152-563F-998D-2087D874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60BF0-789B-98CC-7B4D-A7A7FB28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5836-F910-5635-AA67-26D55C0C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0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E4F7-98DF-5AF4-C750-CA91D3B2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6E96-845A-D063-4573-4EAC09CDC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704C5-7A76-CB51-EB38-D56CB68C9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A4609-7B3A-65A2-AE1A-1A81B74E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AE83F-458A-71CD-51AF-4DC1E776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F50D6-FF6E-2107-154E-D8CF768A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1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E86D-861E-B6F8-5F1C-23E556BC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A0E4C-C157-E2BA-4837-AF1B70D7B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26D51-0884-FE13-3FF1-2D855AD64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B8C86-75E4-5AB0-2F78-2D882DED0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33B8A-2117-5A2B-B247-5F6121AD8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B5482B-4560-07EA-D99A-B337BA6F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1BA52-FB1F-71FD-EEB8-9FF5F264E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D896F-A32B-6191-707B-A8D952482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1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EF84-A572-0881-B7C3-0F6A4F97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81C49-4B95-4D21-E058-41F8DB4C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82E54-C865-6300-5A9B-A506706A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86D03-616F-8173-1F6C-156758F7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31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117EE-ABFB-FF7B-5F07-524FD6C0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233D6E-D3A6-C7DC-2E00-2BFC57D6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CF397-1977-B23F-6878-E72391D7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48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472A-BF7D-4D41-9A3C-0C2F1DC0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41AFD-ED38-4B1D-E5D0-65044A476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5CB17-41B4-BBED-7D7E-957CD26DC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A4BEC-AC90-0B33-0C52-6CF85C5B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20E32-8FB9-F854-173E-548DA04A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08875-B5DB-D4A1-62C5-03ADF4C2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82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B267-1AC0-69A1-FC6D-807E6CC1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F9B0F8-A21F-A7D9-AF65-ECD1436C1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8F33A-70A7-F935-F69D-7B56A3E1D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1DEA8-963B-AC54-5667-854DEE1F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EA0D6-DA73-0BC7-9B12-A40A950C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6D46B-D0F2-6235-B752-2AC9B69E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73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A272-9D22-F085-2C1C-630D0C70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4E658-BB0E-4910-BB40-EAD268107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1B80-2431-5F91-D347-8686C1B56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7DB0F-0AF9-701F-48F3-2BCE6F0FA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3577D-D1CB-93C7-1DD7-86006361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86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5BC3F-E4E5-F33D-012E-8B4A87A1F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E4517-9BAF-135B-C09F-808827462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67221-8021-706A-BBCE-4A822C80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B8C56-0BF9-C1DE-4875-202BDD36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6EFCC-512C-90E9-BAD5-9618A5BF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8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chemeClr val="tx2"/>
            </a:gs>
            <a:gs pos="1000">
              <a:schemeClr val="tx2">
                <a:lumMod val="5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8F3001-A73B-75D2-FED7-F0A579792D6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00401" y="2019178"/>
            <a:ext cx="5002712" cy="2819644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B59FC7B0-14EE-1856-8943-E3658ACAF5C6}"/>
              </a:ext>
            </a:extLst>
          </p:cNvPr>
          <p:cNvSpPr txBox="1">
            <a:spLocks/>
          </p:cNvSpPr>
          <p:nvPr userDrawn="1"/>
        </p:nvSpPr>
        <p:spPr>
          <a:xfrm>
            <a:off x="486978" y="264909"/>
            <a:ext cx="11302827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aseline="0" dirty="0"/>
              <a:t>DSCI 521-900: EXPLORATORY DATA ANALAYSIS</a:t>
            </a:r>
          </a:p>
          <a:p>
            <a:r>
              <a:rPr lang="en-US" sz="3000" baseline="0" dirty="0">
                <a:solidFill>
                  <a:srgbClr val="FFFF00"/>
                </a:solidFill>
              </a:rPr>
              <a:t>US DOT Bureau of Transportation Statistics </a:t>
            </a:r>
          </a:p>
          <a:p>
            <a:r>
              <a:rPr lang="en-US" sz="3000" baseline="0" dirty="0">
                <a:solidFill>
                  <a:srgbClr val="FFFF00"/>
                </a:solidFill>
              </a:rPr>
              <a:t>Motor Vehicle Fatality Analysis Reporting 2022 - 2023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008D1-0974-4716-88E9-4E5F1E7066A3}"/>
              </a:ext>
            </a:extLst>
          </p:cNvPr>
          <p:cNvSpPr txBox="1"/>
          <p:nvPr userDrawn="1"/>
        </p:nvSpPr>
        <p:spPr>
          <a:xfrm>
            <a:off x="2133600" y="510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Project Team Members: Sharon Robinson, Nikita Lenard, Ashokkumar Jangid, Alvin Boakai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chemeClr val="tx2"/>
            </a:gs>
            <a:gs pos="1000">
              <a:schemeClr val="tx2">
                <a:lumMod val="5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5137E-E766-5CC7-F0E8-FFF3107C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7CA9-8F5A-4CF7-A484-8CF8AFBFD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76209-8FE8-CC59-E734-820ADB91A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484F9-1F3E-4F26-8A75-AFFC04E507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39443-ED4A-223F-E9F9-8DB860B29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2CFF2-D225-9233-C39E-D637BC4A0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ADFFD-12AE-4D11-B55C-A86D383AE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4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D678B84-ADB8-6C40-7747-DB1498EA1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"/>
            <a:ext cx="24574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4B687D-E4AC-A6B1-526F-2F738A5D4AB6}"/>
              </a:ext>
            </a:extLst>
          </p:cNvPr>
          <p:cNvSpPr txBox="1"/>
          <p:nvPr/>
        </p:nvSpPr>
        <p:spPr>
          <a:xfrm>
            <a:off x="762000" y="5678269"/>
            <a:ext cx="982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Analysis Focus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Selection of 8 states for the years 2022 and 2023 - Alaska, California, District of Columbia, Florida, Georgia, Rhode Island, Texas, Vermont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59011-0865-CDC4-786A-6EA35FD98D09}"/>
              </a:ext>
            </a:extLst>
          </p:cNvPr>
          <p:cNvSpPr txBox="1"/>
          <p:nvPr/>
        </p:nvSpPr>
        <p:spPr>
          <a:xfrm>
            <a:off x="4114800" y="924580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EDA Scope, Objectives and Focus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D5DB9-0C11-DAC4-CABA-E949F179D8AB}"/>
              </a:ext>
            </a:extLst>
          </p:cNvPr>
          <p:cNvSpPr txBox="1"/>
          <p:nvPr/>
        </p:nvSpPr>
        <p:spPr>
          <a:xfrm>
            <a:off x="762000" y="2438400"/>
            <a:ext cx="1059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Scope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To perform a root-cause analysis of motor vehicle-related fatalities and identify contributing factors and conditions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3BE1B-9865-19EA-A0F6-F059886D323B}"/>
              </a:ext>
            </a:extLst>
          </p:cNvPr>
          <p:cNvSpPr txBox="1"/>
          <p:nvPr/>
        </p:nvSpPr>
        <p:spPr>
          <a:xfrm>
            <a:off x="762000" y="3361730"/>
            <a:ext cx="9753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Objectives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Provide insights that can improve roadway safety by identifying high-risk conditions pertaining to weather, road construction, signage 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Identify lag times between crash notification and EMS/EMT arrival, and EMS/EMT lag times from crash sites to medical treatment facilities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53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592DDC-EDB9-A98B-E6DC-400F1354AFCF}"/>
              </a:ext>
            </a:extLst>
          </p:cNvPr>
          <p:cNvSpPr txBox="1"/>
          <p:nvPr/>
        </p:nvSpPr>
        <p:spPr>
          <a:xfrm>
            <a:off x="228600" y="76200"/>
            <a:ext cx="11811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Primary Data Sources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 US DOT Bureau of Transportation Statistics Fatality Analysis Reporting System, years 2022 and 2023. These datasets are subsets of the U.S. Department of Transportation (USDOT)/Bureau of Transportation Statistics (BTS) National Transportation Atlas Database (NTAD):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NTAD_Fatality_Analysis_Reporting_System_2022_Accident</a:t>
            </a:r>
          </a:p>
          <a:p>
            <a:pPr lvl="1"/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NTAD_Fatality_Analysis_Reporting_System_2023_Accident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1600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Input File Format and Data Structures</a:t>
            </a: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Both files are in .csv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2022 file:  39,681 rows x  80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2023 file:  37,951 rows x 80 columns</a:t>
            </a:r>
          </a:p>
          <a:p>
            <a:pPr lvl="1"/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/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1600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Limitations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Florida’s data contained a high proportion of missing, unknown or unreported values across most </a:t>
            </a:r>
            <a:r>
              <a:rPr lang="en-US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attribures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which limited its suitability for analysis.  The underlying cause of these omissions – whether due to state policy or other factors – could not be determined.</a:t>
            </a: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Because the accident datasets used in this analysis are subsets of the National Transportation Atlas Database(NTAD) more than 50 attributes were excluded, thereby limiting the scope of the EMT/EMS-related analyses. </a:t>
            </a: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863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185FE-F4F8-72BA-A582-45B93152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Accident Patterns by Time-of-Day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2875F-BAF5-E27E-859A-B9F27695C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1981200"/>
            <a:ext cx="5131088" cy="396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F2166-3C69-8DFC-A4A4-1D13C24D4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1928621"/>
            <a:ext cx="5131087" cy="409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9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5F1E7A-5D7D-7078-DFF0-CA3FEF30B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" r="-1" b="2639"/>
          <a:stretch>
            <a:fillRect/>
          </a:stretch>
        </p:blipFill>
        <p:spPr bwMode="auto">
          <a:xfrm>
            <a:off x="75934" y="89036"/>
            <a:ext cx="2438666" cy="158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4" name="Rectangle 4113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C0ED0B-8BE7-1056-7607-44B09A163922}"/>
              </a:ext>
            </a:extLst>
          </p:cNvPr>
          <p:cNvSpPr txBox="1"/>
          <p:nvPr/>
        </p:nvSpPr>
        <p:spPr>
          <a:xfrm>
            <a:off x="699715" y="5635366"/>
            <a:ext cx="7091299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Median </a:t>
            </a:r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Notification</a:t>
            </a:r>
            <a:r>
              <a:rPr lang="en-US" sz="2800" b="1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of MVA Crash to EMS/EMT Lag-Time, Rural vs Urban</a:t>
            </a:r>
          </a:p>
        </p:txBody>
      </p: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1B1AA6-53F0-238D-4E27-6EC2FC6F3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76200"/>
            <a:ext cx="9448800" cy="46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DA1FC-D368-C8C9-140C-124FC2DCDECD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Median EMS/EMT Transit Time to </a:t>
            </a:r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Hospital</a:t>
            </a:r>
            <a:r>
              <a:rPr lang="en-US" sz="2800" b="1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, Rural vs Urban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32B94E-A251-D61E-41E8-900CDF55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444481"/>
            <a:ext cx="6780700" cy="396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8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0623C0-2A1D-C7DD-3CDB-451CD3814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2514600" cy="19627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9B4F98-81D6-8F54-0986-F68A44A90CA8}"/>
              </a:ext>
            </a:extLst>
          </p:cNvPr>
          <p:cNvSpPr txBox="1"/>
          <p:nvPr/>
        </p:nvSpPr>
        <p:spPr>
          <a:xfrm>
            <a:off x="4495800" y="381000"/>
            <a:ext cx="411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Construction Zone Analysis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4105B-278B-F42E-3338-8CC0A1E1C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93" y="2537779"/>
            <a:ext cx="10497207" cy="410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F146819-0874-4FF8-D30D-F04B9E3E7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8" y="2102975"/>
            <a:ext cx="3574649" cy="36882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2C4909-7708-64D9-A3AC-97B829D6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362200"/>
            <a:ext cx="5469738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C57086-915B-E98E-426A-F645C5EF1820}"/>
              </a:ext>
            </a:extLst>
          </p:cNvPr>
          <p:cNvSpPr txBox="1"/>
          <p:nvPr/>
        </p:nvSpPr>
        <p:spPr>
          <a:xfrm>
            <a:off x="1247773" y="457200"/>
            <a:ext cx="9496427" cy="48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Construction Zone Analysis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7798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671CE-FCFB-BE32-C7E3-A1724136FEF3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Harm Analysis</a:t>
            </a: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06EE7-BC5E-1130-0838-29A89144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626093"/>
            <a:ext cx="5131088" cy="26188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E8D8D7-943C-B521-FBDD-AC5A96B3C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626093"/>
            <a:ext cx="5131087" cy="318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9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3DEDE-3B16-2FF7-1822-8B9D3390768C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Harm Analysis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2DA4B-0F2A-4744-0D51-CFE33B123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625590"/>
            <a:ext cx="11327549" cy="404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5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AD200F-4C32-BD54-BBFE-2EA2149F38E6}"/>
              </a:ext>
            </a:extLst>
          </p:cNvPr>
          <p:cNvSpPr txBox="1"/>
          <p:nvPr/>
        </p:nvSpPr>
        <p:spPr>
          <a:xfrm>
            <a:off x="1143000" y="1384280"/>
            <a:ext cx="9144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CONCLUSION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This analysis identified time‑of‑day risk patterns, rural‑urban disparities in EMS response times, types of harm and roadway conditions associated with fatal motor vehicle crashes. While data limitations constrained EMT/EMS analyses, the results provide valuable insights to support roadway safety improvements and highlight areas for enhanced data reporting and future research.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4750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721978_Global bar and pie chart dashboard_AAS_v4" id="{9F79EC18-B6B9-487F-825E-B5C7FA7FD327}" vid="{BB77EE0C-D652-422A-AC5B-BFCAD129DBB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B372917-B5A7-4C73-9E17-DD447FF421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E25B48-C93E-4336-8E70-63DB1C9C4C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920EC4-A73A-4E03-B435-CEF22DC9366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Global bar and pie chart dashboard</Template>
  <TotalTime>504</TotalTime>
  <Words>402</Words>
  <Application>Microsoft Office PowerPoint</Application>
  <PresentationFormat>Widescreen</PresentationFormat>
  <Paragraphs>41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Accident Patterns by Time-of-Day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 Ro</dc:creator>
  <cp:keywords/>
  <dc:description/>
  <cp:lastModifiedBy>Sh Ro</cp:lastModifiedBy>
  <cp:revision>24</cp:revision>
  <dcterms:created xsi:type="dcterms:W3CDTF">2026-03-07T13:36:15Z</dcterms:created>
  <dcterms:modified xsi:type="dcterms:W3CDTF">2026-03-07T22:00:46Z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